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Times New Roman MT" panose="020B0604020202020204" charset="0"/>
      <p:regular r:id="rId9"/>
    </p:embeddedFont>
    <p:embeddedFont>
      <p:font typeface="Times New Roman MT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622" autoAdjust="0"/>
  </p:normalViewPr>
  <p:slideViewPr>
    <p:cSldViewPr>
      <p:cViewPr>
        <p:scale>
          <a:sx n="66" d="100"/>
          <a:sy n="66" d="100"/>
        </p:scale>
        <p:origin x="48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D3A6A-73AA-4D01-854F-2BE79DB82A2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6DFEF-C870-4B22-8FE7-E5F8400FC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52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6DFEF-C870-4B22-8FE7-E5F8400FCC2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21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6DFEF-C870-4B22-8FE7-E5F8400FCC2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55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209593" y="0"/>
            <a:ext cx="9867900" cy="1447800"/>
            <a:chOff x="0" y="0"/>
            <a:chExt cx="13157200" cy="1930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157200" cy="1930400"/>
            </a:xfrm>
            <a:custGeom>
              <a:avLst/>
              <a:gdLst/>
              <a:ahLst/>
              <a:cxnLst/>
              <a:rect l="l" t="t" r="r" b="b"/>
              <a:pathLst>
                <a:path w="13157200" h="19304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067682" y="1670028"/>
            <a:ext cx="5715000" cy="819150"/>
            <a:chOff x="0" y="0"/>
            <a:chExt cx="7620000" cy="1092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0000" cy="1092200"/>
            </a:xfrm>
            <a:custGeom>
              <a:avLst/>
              <a:gdLst/>
              <a:ahLst/>
              <a:cxnLst/>
              <a:rect l="l" t="t" r="r" b="b"/>
              <a:pathLst>
                <a:path w="7620000" h="1092200">
                  <a:moveTo>
                    <a:pt x="0" y="0"/>
                  </a:moveTo>
                  <a:lnTo>
                    <a:pt x="7620000" y="0"/>
                  </a:lnTo>
                  <a:lnTo>
                    <a:pt x="7620000" y="1092200"/>
                  </a:lnTo>
                  <a:lnTo>
                    <a:pt x="0" y="109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878" t="-287030" r="-21121" b="-30599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152400"/>
            <a:ext cx="1295400" cy="1295400"/>
            <a:chOff x="0" y="0"/>
            <a:chExt cx="1727200" cy="1727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7200" cy="1727200"/>
            </a:xfrm>
            <a:custGeom>
              <a:avLst/>
              <a:gdLst/>
              <a:ahLst/>
              <a:cxnLst/>
              <a:rect l="l" t="t" r="r" b="b"/>
              <a:pathLst>
                <a:path w="1727200" h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084029" y="152400"/>
            <a:ext cx="1171575" cy="1295400"/>
            <a:chOff x="0" y="0"/>
            <a:chExt cx="1562100" cy="172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2100" cy="1727200"/>
            </a:xfrm>
            <a:custGeom>
              <a:avLst/>
              <a:gdLst/>
              <a:ahLst/>
              <a:cxnLst/>
              <a:rect l="l" t="t" r="r" b="b"/>
              <a:pathLst>
                <a:path w="1562100" h="1727200">
                  <a:moveTo>
                    <a:pt x="0" y="0"/>
                  </a:moveTo>
                  <a:lnTo>
                    <a:pt x="1562100" y="0"/>
                  </a:lnTo>
                  <a:lnTo>
                    <a:pt x="15621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22407" y="4628539"/>
            <a:ext cx="15770193" cy="2433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4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Name: V4catalyst </a:t>
            </a:r>
          </a:p>
          <a:p>
            <a:pPr algn="l">
              <a:lnSpc>
                <a:spcPts val="4781"/>
              </a:lnSpc>
            </a:pPr>
            <a:r>
              <a:rPr lang="en-US" sz="34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Leader Name: Ishika Dubey</a:t>
            </a:r>
          </a:p>
          <a:p>
            <a:pPr algn="l">
              <a:lnSpc>
                <a:spcPts val="4781"/>
              </a:lnSpc>
            </a:pPr>
            <a:r>
              <a:rPr lang="en-US" sz="34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Domain Chosen: Web &amp; Product Development</a:t>
            </a:r>
          </a:p>
          <a:p>
            <a:pPr>
              <a:lnSpc>
                <a:spcPts val="4781"/>
              </a:lnSpc>
            </a:pPr>
            <a:r>
              <a:rPr lang="en-US" sz="34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Statement: PS3: Digital Handoff &amp; Continuity Management Platform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52268" y="2924527"/>
            <a:ext cx="2951978" cy="74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405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Details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4451" y="8089321"/>
            <a:ext cx="6544213" cy="58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Thread: no complaint left hanging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18288000" cy="10287000"/>
            <a:chOff x="0" y="5080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5080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999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84029" y="152400"/>
            <a:ext cx="1171575" cy="1295400"/>
            <a:chOff x="0" y="0"/>
            <a:chExt cx="1562100" cy="172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2100" cy="1727200"/>
            </a:xfrm>
            <a:custGeom>
              <a:avLst/>
              <a:gdLst/>
              <a:ahLst/>
              <a:cxnLst/>
              <a:rect l="l" t="t" r="r" b="b"/>
              <a:pathLst>
                <a:path w="1562100" h="1727200">
                  <a:moveTo>
                    <a:pt x="0" y="0"/>
                  </a:moveTo>
                  <a:lnTo>
                    <a:pt x="1562100" y="0"/>
                  </a:lnTo>
                  <a:lnTo>
                    <a:pt x="15621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52400"/>
            <a:ext cx="1295400" cy="1295400"/>
            <a:chOff x="0" y="0"/>
            <a:chExt cx="1727200" cy="172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7200" cy="1727200"/>
            </a:xfrm>
            <a:custGeom>
              <a:avLst/>
              <a:gdLst/>
              <a:ahLst/>
              <a:cxnLst/>
              <a:rect l="l" t="t" r="r" b="b"/>
              <a:pathLst>
                <a:path w="1727200" h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655503" y="0"/>
            <a:ext cx="9867900" cy="1447800"/>
            <a:chOff x="0" y="0"/>
            <a:chExt cx="13157200" cy="1930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57200" cy="1930400"/>
            </a:xfrm>
            <a:custGeom>
              <a:avLst/>
              <a:gdLst/>
              <a:ahLst/>
              <a:cxnLst/>
              <a:rect l="l" t="t" r="r" b="b"/>
              <a:pathLst>
                <a:path w="13157200" h="19304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7999657" y="2440995"/>
            <a:ext cx="9583454" cy="6588705"/>
          </a:xfrm>
          <a:custGeom>
            <a:avLst/>
            <a:gdLst/>
            <a:ahLst/>
            <a:cxnLst/>
            <a:rect l="l" t="t" r="r" b="b"/>
            <a:pathLst>
              <a:path w="9583454" h="6588705">
                <a:moveTo>
                  <a:pt x="0" y="0"/>
                </a:moveTo>
                <a:lnTo>
                  <a:pt x="9583454" y="0"/>
                </a:lnTo>
                <a:lnTo>
                  <a:pt x="9583454" y="6588705"/>
                </a:lnTo>
                <a:lnTo>
                  <a:pt x="0" y="6588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70" r="-11597" b="-1036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9063" y="2257174"/>
            <a:ext cx="6590447" cy="783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2240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Problem</a:t>
            </a:r>
          </a:p>
          <a:p>
            <a:pPr marL="483646" lvl="1" indent="-241823" algn="l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When a case changes hands (leave, escalation, team rebalancing), context is scattered across emails, chats, tickets and personal notes.</a:t>
            </a:r>
          </a:p>
          <a:p>
            <a:pPr marL="483646" lvl="1" indent="-241823" algn="l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new owner repeats work, misses deadlines, and the customer has to explain everything again.</a:t>
            </a:r>
          </a:p>
          <a:p>
            <a:pPr marL="483646" lvl="1" indent="-241823" algn="l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Handoffs happen with no check that the information is complete, and no proof the receiver understood it.</a:t>
            </a:r>
          </a:p>
          <a:p>
            <a:pPr algn="l">
              <a:lnSpc>
                <a:spcPts val="3136"/>
              </a:lnSpc>
              <a:spcBef>
                <a:spcPct val="0"/>
              </a:spcBef>
            </a:pPr>
            <a:endParaRPr lang="en-US" sz="224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136"/>
              </a:lnSpc>
              <a:spcBef>
                <a:spcPct val="0"/>
              </a:spcBef>
            </a:pPr>
            <a:r>
              <a:rPr lang="en-US" sz="2240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Who is affected?</a:t>
            </a:r>
          </a:p>
          <a:p>
            <a:pPr marL="483646" lvl="1" indent="-241823" algn="l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Employees taking over cases, managers, and customers </a:t>
            </a:r>
          </a:p>
          <a:p>
            <a:pPr algn="l">
              <a:lnSpc>
                <a:spcPts val="3136"/>
              </a:lnSpc>
              <a:spcBef>
                <a:spcPct val="0"/>
              </a:spcBef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waiting for resolution.</a:t>
            </a:r>
          </a:p>
          <a:p>
            <a:pPr algn="l">
              <a:lnSpc>
                <a:spcPts val="3136"/>
              </a:lnSpc>
              <a:spcBef>
                <a:spcPct val="0"/>
              </a:spcBef>
            </a:pPr>
            <a:endParaRPr lang="en-US" sz="224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136"/>
              </a:lnSpc>
              <a:spcBef>
                <a:spcPct val="0"/>
              </a:spcBef>
            </a:pPr>
            <a:r>
              <a:rPr lang="en-US" sz="2240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Gap in today’s tools</a:t>
            </a:r>
          </a:p>
          <a:p>
            <a:pPr marL="483646" lvl="1" indent="-241823" algn="l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Ticket systems store cases but don’t stop an incomplete handoff </a:t>
            </a:r>
          </a:p>
          <a:p>
            <a:pPr algn="l">
              <a:lnSpc>
                <a:spcPts val="3136"/>
              </a:lnSpc>
              <a:spcBef>
                <a:spcPct val="0"/>
              </a:spcBef>
            </a:pPr>
            <a:r>
              <a:rPr lang="en-US" sz="224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don’t record acceptance</a:t>
            </a:r>
          </a:p>
          <a:p>
            <a:pPr algn="l">
              <a:lnSpc>
                <a:spcPts val="3136"/>
              </a:lnSpc>
              <a:spcBef>
                <a:spcPct val="0"/>
              </a:spcBef>
            </a:pPr>
            <a:endParaRPr lang="en-US" sz="224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1600829"/>
            <a:ext cx="3265587" cy="647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Analysis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84029" y="152400"/>
            <a:ext cx="1171575" cy="1295400"/>
            <a:chOff x="0" y="0"/>
            <a:chExt cx="1562100" cy="172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2100" cy="1727200"/>
            </a:xfrm>
            <a:custGeom>
              <a:avLst/>
              <a:gdLst/>
              <a:ahLst/>
              <a:cxnLst/>
              <a:rect l="l" t="t" r="r" b="b"/>
              <a:pathLst>
                <a:path w="1562100" h="1727200">
                  <a:moveTo>
                    <a:pt x="0" y="0"/>
                  </a:moveTo>
                  <a:lnTo>
                    <a:pt x="1562100" y="0"/>
                  </a:lnTo>
                  <a:lnTo>
                    <a:pt x="15621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52400"/>
            <a:ext cx="1295400" cy="1295400"/>
            <a:chOff x="0" y="0"/>
            <a:chExt cx="1727200" cy="172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7200" cy="1727200"/>
            </a:xfrm>
            <a:custGeom>
              <a:avLst/>
              <a:gdLst/>
              <a:ahLst/>
              <a:cxnLst/>
              <a:rect l="l" t="t" r="r" b="b"/>
              <a:pathLst>
                <a:path w="1727200" h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35524" y="1694212"/>
            <a:ext cx="6599749" cy="62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Proposed Solution &amp; Key Features 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6A939E24-04A3-F099-E9D2-F951F7A8CB13}"/>
              </a:ext>
            </a:extLst>
          </p:cNvPr>
          <p:cNvGrpSpPr/>
          <p:nvPr/>
        </p:nvGrpSpPr>
        <p:grpSpPr>
          <a:xfrm>
            <a:off x="3810000" y="0"/>
            <a:ext cx="9867900" cy="1447800"/>
            <a:chOff x="0" y="0"/>
            <a:chExt cx="13157200" cy="1930400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EA07CD8-747C-5AAE-013C-04116B6C103C}"/>
                </a:ext>
              </a:extLst>
            </p:cNvPr>
            <p:cNvSpPr/>
            <p:nvPr/>
          </p:nvSpPr>
          <p:spPr>
            <a:xfrm>
              <a:off x="0" y="0"/>
              <a:ext cx="13157200" cy="1930400"/>
            </a:xfrm>
            <a:custGeom>
              <a:avLst/>
              <a:gdLst/>
              <a:ahLst/>
              <a:cxnLst/>
              <a:rect l="l" t="t" r="r" b="b"/>
              <a:pathLst>
                <a:path w="13157200" h="19304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03AA88D-20DC-B414-6B78-EFEF8BE81E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" y="2721901"/>
            <a:ext cx="18288000" cy="6460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84029" y="152400"/>
            <a:ext cx="1171575" cy="1295400"/>
            <a:chOff x="0" y="0"/>
            <a:chExt cx="1562100" cy="172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2100" cy="1727200"/>
            </a:xfrm>
            <a:custGeom>
              <a:avLst/>
              <a:gdLst/>
              <a:ahLst/>
              <a:cxnLst/>
              <a:rect l="l" t="t" r="r" b="b"/>
              <a:pathLst>
                <a:path w="1562100" h="1727200">
                  <a:moveTo>
                    <a:pt x="0" y="0"/>
                  </a:moveTo>
                  <a:lnTo>
                    <a:pt x="1562100" y="0"/>
                  </a:lnTo>
                  <a:lnTo>
                    <a:pt x="15621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52400"/>
            <a:ext cx="1295400" cy="1295400"/>
            <a:chOff x="0" y="0"/>
            <a:chExt cx="1727200" cy="172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7200" cy="1727200"/>
            </a:xfrm>
            <a:custGeom>
              <a:avLst/>
              <a:gdLst/>
              <a:ahLst/>
              <a:cxnLst/>
              <a:rect l="l" t="t" r="r" b="b"/>
              <a:pathLst>
                <a:path w="1727200" h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209593" y="0"/>
            <a:ext cx="9867900" cy="1447800"/>
            <a:chOff x="0" y="0"/>
            <a:chExt cx="13157200" cy="1930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57200" cy="1930400"/>
            </a:xfrm>
            <a:custGeom>
              <a:avLst/>
              <a:gdLst/>
              <a:ahLst/>
              <a:cxnLst/>
              <a:rect l="l" t="t" r="r" b="b"/>
              <a:pathLst>
                <a:path w="13157200" h="19304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04800" y="2519382"/>
            <a:ext cx="6970243" cy="5595918"/>
          </a:xfrm>
          <a:custGeom>
            <a:avLst/>
            <a:gdLst/>
            <a:ahLst/>
            <a:cxnLst/>
            <a:rect l="l" t="t" r="r" b="b"/>
            <a:pathLst>
              <a:path w="7066169" h="4917450">
                <a:moveTo>
                  <a:pt x="0" y="0"/>
                </a:moveTo>
                <a:lnTo>
                  <a:pt x="7066169" y="0"/>
                </a:lnTo>
                <a:lnTo>
                  <a:pt x="7066169" y="4917451"/>
                </a:lnTo>
                <a:lnTo>
                  <a:pt x="0" y="49174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6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3015" y="1694212"/>
            <a:ext cx="6242028" cy="62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Technical approach &amp; Innovation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9FA3B-C0F6-8F52-B16E-6FE12C783791}"/>
              </a:ext>
            </a:extLst>
          </p:cNvPr>
          <p:cNvSpPr txBox="1"/>
          <p:nvPr/>
        </p:nvSpPr>
        <p:spPr>
          <a:xfrm>
            <a:off x="304800" y="8242637"/>
            <a:ext cx="693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The project follows a modular architecture integrating frontend development, backend APIs, database management, and AI-powered reporting for efficient and scalable case handling.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5AB8A6-A761-3184-52AE-559BB75E5D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2519382"/>
            <a:ext cx="9867900" cy="55959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FD97DF-1878-75CE-2AEB-5620C10467AC}"/>
              </a:ext>
            </a:extLst>
          </p:cNvPr>
          <p:cNvSpPr txBox="1"/>
          <p:nvPr/>
        </p:nvSpPr>
        <p:spPr>
          <a:xfrm>
            <a:off x="8115300" y="8263979"/>
            <a:ext cx="98679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b="1" dirty="0">
                <a:solidFill>
                  <a:schemeClr val="bg1"/>
                </a:solidFill>
              </a:rPr>
              <a:t>Novel n8n styled workflow that displays tasks according to their respective stages and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84029" y="152400"/>
            <a:ext cx="1171575" cy="1295400"/>
            <a:chOff x="0" y="0"/>
            <a:chExt cx="1562100" cy="172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2100" cy="1727200"/>
            </a:xfrm>
            <a:custGeom>
              <a:avLst/>
              <a:gdLst/>
              <a:ahLst/>
              <a:cxnLst/>
              <a:rect l="l" t="t" r="r" b="b"/>
              <a:pathLst>
                <a:path w="1562100" h="1727200">
                  <a:moveTo>
                    <a:pt x="0" y="0"/>
                  </a:moveTo>
                  <a:lnTo>
                    <a:pt x="1562100" y="0"/>
                  </a:lnTo>
                  <a:lnTo>
                    <a:pt x="15621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52400"/>
            <a:ext cx="1295400" cy="1295400"/>
            <a:chOff x="0" y="0"/>
            <a:chExt cx="1727200" cy="172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7200" cy="1727200"/>
            </a:xfrm>
            <a:custGeom>
              <a:avLst/>
              <a:gdLst/>
              <a:ahLst/>
              <a:cxnLst/>
              <a:rect l="l" t="t" r="r" b="b"/>
              <a:pathLst>
                <a:path w="1727200" h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209593" y="0"/>
            <a:ext cx="9867900" cy="1447800"/>
            <a:chOff x="0" y="0"/>
            <a:chExt cx="13157200" cy="1930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57200" cy="1930400"/>
            </a:xfrm>
            <a:custGeom>
              <a:avLst/>
              <a:gdLst/>
              <a:ahLst/>
              <a:cxnLst/>
              <a:rect l="l" t="t" r="r" b="b"/>
              <a:pathLst>
                <a:path w="13157200" h="19304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1770412"/>
            <a:ext cx="4402979" cy="62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Impact &amp; Future Scope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EE2FE8-5085-3A53-6869-A08BAA8061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200"/>
            <a:ext cx="18268950" cy="781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" y="-60713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84029" y="152400"/>
            <a:ext cx="1171575" cy="1295400"/>
            <a:chOff x="0" y="0"/>
            <a:chExt cx="1562100" cy="172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2100" cy="1727200"/>
            </a:xfrm>
            <a:custGeom>
              <a:avLst/>
              <a:gdLst/>
              <a:ahLst/>
              <a:cxnLst/>
              <a:rect l="l" t="t" r="r" b="b"/>
              <a:pathLst>
                <a:path w="1562100" h="1727200">
                  <a:moveTo>
                    <a:pt x="0" y="0"/>
                  </a:moveTo>
                  <a:lnTo>
                    <a:pt x="1562100" y="0"/>
                  </a:lnTo>
                  <a:lnTo>
                    <a:pt x="15621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52400"/>
            <a:ext cx="1295400" cy="1295400"/>
            <a:chOff x="0" y="0"/>
            <a:chExt cx="1727200" cy="172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7200" cy="1727200"/>
            </a:xfrm>
            <a:custGeom>
              <a:avLst/>
              <a:gdLst/>
              <a:ahLst/>
              <a:cxnLst/>
              <a:rect l="l" t="t" r="r" b="b"/>
              <a:pathLst>
                <a:path w="1727200" h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209593" y="0"/>
            <a:ext cx="9867900" cy="1447800"/>
            <a:chOff x="0" y="0"/>
            <a:chExt cx="13157200" cy="1930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57200" cy="1930400"/>
            </a:xfrm>
            <a:custGeom>
              <a:avLst/>
              <a:gdLst/>
              <a:ahLst/>
              <a:cxnLst/>
              <a:rect l="l" t="t" r="r" b="b"/>
              <a:pathLst>
                <a:path w="13157200" h="19304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019300"/>
            <a:ext cx="15066912" cy="57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Supporting Information(workflow, architecture, wireframes, research, references)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A25C69-A575-FE71-6DC1-2829EDB1CF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46" y="2959417"/>
            <a:ext cx="8839200" cy="37842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2ACF36-1DC4-8CA9-113B-A818B9CD6B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54" y="2959417"/>
            <a:ext cx="8339367" cy="37842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0455C4F-14B1-42B4-D667-02F68FD08FAF}"/>
              </a:ext>
            </a:extLst>
          </p:cNvPr>
          <p:cNvSpPr txBox="1"/>
          <p:nvPr/>
        </p:nvSpPr>
        <p:spPr>
          <a:xfrm>
            <a:off x="314554" y="7200900"/>
            <a:ext cx="1660184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References: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[1] Atlassian. 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[2] Salesforce Trailhead.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[3] Oracle. Overview of Case Management (Fusion Service).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[4] SAP Community. Case Management in SAP Hybris Service Cloud.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[5] Newgen </a:t>
            </a:r>
            <a:r>
              <a:rPr lang="en-US" sz="24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OmniFlow</a:t>
            </a:r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iBPS</a:t>
            </a:r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</a:t>
            </a:r>
            <a:r>
              <a:rPr lang="en-US" sz="24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EdgeVerve</a:t>
            </a:r>
            <a:r>
              <a:rPr lang="en-US" sz="24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Finacle App Center listing).</a:t>
            </a:r>
            <a:endParaRPr lang="en-I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258</Words>
  <Application>Microsoft Office PowerPoint</Application>
  <PresentationFormat>Custom</PresentationFormat>
  <Paragraphs>33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 MT Bold</vt:lpstr>
      <vt:lpstr>Arial</vt:lpstr>
      <vt:lpstr>Times New Roman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 :V4catalyst Leader Name : Ishika Dubey Domain Chosen : Web &amp; Product Development Problem Statement : Digital Handoff &amp; Continuity Management Platform</dc:title>
  <dc:creator>Samruddhi Kalbande</dc:creator>
  <cp:lastModifiedBy>Samruddhi Kalbande</cp:lastModifiedBy>
  <cp:revision>2</cp:revision>
  <dcterms:created xsi:type="dcterms:W3CDTF">2006-08-16T00:00:00Z</dcterms:created>
  <dcterms:modified xsi:type="dcterms:W3CDTF">2026-10-13T04:59:04Z</dcterms:modified>
  <dc:identifier>DAHX0_Bo1LM</dc:identifier>
</cp:coreProperties>
</file>