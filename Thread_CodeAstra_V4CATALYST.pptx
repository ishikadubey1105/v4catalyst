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80808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80808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084026" y="152400"/>
            <a:ext cx="1171574" cy="12953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28700" y="152400"/>
            <a:ext cx="1295399" cy="12953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209592" y="0"/>
            <a:ext cx="9867898" cy="14477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1650719"/>
            <a:ext cx="14797405" cy="1225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20799" y="3874857"/>
            <a:ext cx="15621000" cy="4401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80808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152400"/>
            <a:ext cx="1295399" cy="1295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09592" y="0"/>
            <a:ext cx="9867898" cy="14477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084026" y="152400"/>
            <a:ext cx="1171574" cy="1295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67684" y="1670024"/>
            <a:ext cx="5714999" cy="819149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239569" y="2908295"/>
            <a:ext cx="2919730" cy="643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50" spc="60" dirty="0"/>
              <a:t>Team</a:t>
            </a:r>
            <a:r>
              <a:rPr sz="4050" dirty="0"/>
              <a:t> </a:t>
            </a:r>
            <a:r>
              <a:rPr sz="4050" spc="85" dirty="0"/>
              <a:t>Details</a:t>
            </a:r>
            <a:endParaRPr sz="4050"/>
          </a:p>
        </p:txBody>
      </p:sp>
      <p:sp>
        <p:nvSpPr>
          <p:cNvPr id="5" name="object 5"/>
          <p:cNvSpPr txBox="1"/>
          <p:nvPr/>
        </p:nvSpPr>
        <p:spPr>
          <a:xfrm>
            <a:off x="1664208" y="4663440"/>
            <a:ext cx="9601200" cy="2926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99"/>
              </a:lnSpc>
              <a:spcBef>
                <a:spcPts val="100"/>
              </a:spcBef>
            </a:pPr>
            <a:r>
              <a:rPr sz="3000">
                <a:solidFill>
                  <a:srgbClr val="F4F1EA"/>
                </a:solidFill>
                <a:latin typeface="Times New Roman"/>
              </a:rPr>
              <a:t>Team Name :  </a:t>
            </a:r>
            <a:r>
              <a:rPr sz="3000">
                <a:solidFill>
                  <a:srgbClr val="E3A869"/>
                </a:solidFill>
                <a:latin typeface="Times New Roman"/>
              </a:rPr>
              <a:t>V4CATALYST</a:t>
            </a:r>
            <a:endParaRPr sz="3400">
              <a:latin typeface="Times New Roman"/>
              <a:cs typeface="Times New Roman"/>
            </a:endParaRPr>
          </a:p>
          <a:p>
            <a:r>
              <a:rPr sz="3000">
                <a:solidFill>
                  <a:srgbClr val="F4F1EA"/>
                </a:solidFill>
                <a:latin typeface="Times New Roman"/>
              </a:rPr>
              <a:t>Leader Name :  </a:t>
            </a:r>
            <a:r>
              <a:rPr sz="3000">
                <a:solidFill>
                  <a:srgbClr val="E3A869"/>
                </a:solidFill>
                <a:latin typeface="Times New Roman"/>
              </a:rPr>
              <a:t>Ishika Dubey</a:t>
            </a:r>
          </a:p>
          <a:p>
            <a:r>
              <a:rPr sz="3000">
                <a:solidFill>
                  <a:srgbClr val="F4F1EA"/>
                </a:solidFill>
                <a:latin typeface="Times New Roman"/>
              </a:rPr>
              <a:t>Domain Chosen :  </a:t>
            </a:r>
            <a:r>
              <a:rPr sz="3000">
                <a:solidFill>
                  <a:srgbClr val="E3A869"/>
                </a:solidFill>
                <a:latin typeface="Times New Roman"/>
              </a:rPr>
              <a:t>Web &amp; Product Development</a:t>
            </a:r>
          </a:p>
          <a:p>
            <a:r>
              <a:rPr sz="3000">
                <a:solidFill>
                  <a:srgbClr val="F4F1EA"/>
                </a:solidFill>
                <a:latin typeface="Times New Roman"/>
              </a:rPr>
              <a:t>Problem Statement :  </a:t>
            </a:r>
            <a:r>
              <a:rPr sz="3000">
                <a:solidFill>
                  <a:srgbClr val="E3A869"/>
                </a:solidFill>
                <a:latin typeface="Times New Roman"/>
              </a:rPr>
              <a:t>Digital Handoff &amp; Continuity Management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8001000"/>
            <a:ext cx="8686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 i="0">
                <a:solidFill>
                  <a:srgbClr val="F4F1EA"/>
                </a:solidFill>
                <a:latin typeface="Georgia"/>
              </a:rPr>
              <a:t>Thread</a:t>
            </a:r>
            <a:r>
              <a:rPr sz="2600" b="0" i="0">
                <a:solidFill>
                  <a:srgbClr val="F4F1EA"/>
                </a:solidFill>
                <a:latin typeface="Georgia"/>
              </a:rPr>
              <a:t>  —  no complaint left </a:t>
            </a:r>
            <a:r>
              <a:rPr sz="2600" b="0" i="1">
                <a:solidFill>
                  <a:srgbClr val="E3A869"/>
                </a:solidFill>
                <a:latin typeface="Georgia"/>
              </a:rPr>
              <a:t>hanging.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BDB6A8"/>
                </a:solidFill>
                <a:latin typeface="Segoe UI"/>
              </a:rPr>
              <a:t>Live:  v4-catalyst.vercel.app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152400"/>
            <a:ext cx="1295399" cy="1295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09592" y="0"/>
            <a:ext cx="9867898" cy="14477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084026" y="152400"/>
            <a:ext cx="1171574" cy="1295399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872" rIns="0" bIns="0" rtlCol="0">
            <a:spAutoFit/>
          </a:bodyPr>
          <a:lstStyle/>
          <a:p>
            <a:r>
              <a:rPr>
                <a:solidFill>
                  <a:srgbClr val="F4F1EA"/>
                </a:solidFill>
              </a:rPr>
              <a:t>Problem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" y="2514600"/>
            <a:ext cx="1554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F4F1EA"/>
                </a:solidFill>
                <a:latin typeface="Georgia"/>
              </a:rPr>
              <a:t>When a complaint changes hands, its context usually doesn't.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3154680"/>
            <a:ext cx="1554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BDB6A8"/>
                </a:solidFill>
                <a:latin typeface="Segoe UI"/>
              </a:rPr>
              <a:t>Leave, escalation, a team rebalancing work: every transfer is a chance to lose what the last person knew.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4984" y="3977639"/>
            <a:ext cx="3630168" cy="288036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35024" y="427024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0">
                <a:solidFill>
                  <a:srgbClr val="E8907F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4846320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4F1EA"/>
                </a:solidFill>
                <a:latin typeface="Segoe UI"/>
              </a:rPr>
              <a:t>Context is scattered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" y="5394959"/>
            <a:ext cx="299008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0" i="0">
                <a:solidFill>
                  <a:srgbClr val="BDB6A8"/>
                </a:solidFill>
                <a:latin typeface="Segoe UI"/>
              </a:rPr>
              <a:t>Emails, chats, spreadsheets and personal notes. The new owner rebuilds the case from fragments.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3977639"/>
            <a:ext cx="3630168" cy="288036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94376" y="427024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0">
                <a:solidFill>
                  <a:srgbClr val="E8907F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4376" y="4846320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4F1EA"/>
                </a:solidFill>
                <a:latin typeface="Segoe UI"/>
              </a:rPr>
              <a:t>Half-done handoffs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4376" y="5394959"/>
            <a:ext cx="299008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0" i="0">
                <a:solidFill>
                  <a:srgbClr val="BDB6A8"/>
                </a:solidFill>
                <a:latin typeface="Segoe UI"/>
              </a:rPr>
              <a:t>Nothing stops a case moving with unassigned tasks, missing documents or unanswered questions.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8" y="3977639"/>
            <a:ext cx="3630168" cy="288036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53728" y="427024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0">
                <a:solidFill>
                  <a:srgbClr val="E8907F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4846320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4F1EA"/>
                </a:solidFill>
                <a:latin typeface="Segoe UI"/>
              </a:rPr>
              <a:t>Ownership is ambiguous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5394959"/>
            <a:ext cx="299008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0" i="0">
                <a:solidFill>
                  <a:srgbClr val="BDB6A8"/>
                </a:solidFill>
                <a:latin typeface="Segoe UI"/>
              </a:rPr>
              <a:t>A case is "sent", but nobody confirms they understood it. Accountability falls into the gap.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93040" y="3977639"/>
            <a:ext cx="3630168" cy="288036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213080" y="427024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0">
                <a:solidFill>
                  <a:srgbClr val="E8907F"/>
                </a:solidFill>
                <a:latin typeface="Georg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13080" y="4846320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4F1EA"/>
                </a:solidFill>
                <a:latin typeface="Segoe UI"/>
              </a:rPr>
              <a:t>Deadlines slip silently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13080" y="5394959"/>
            <a:ext cx="299008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0" i="0">
                <a:solidFill>
                  <a:srgbClr val="BDB6A8"/>
                </a:solidFill>
                <a:latin typeface="Segoe UI"/>
              </a:rPr>
              <a:t>Overdue actions surface only when the customer complains again, or the regulator asks.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4" y="7178040"/>
            <a:ext cx="15517367" cy="1874519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3A869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71600" y="74523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E3A869"/>
                </a:solidFill>
                <a:latin typeface="Segoe UI"/>
              </a:rPr>
              <a:t>WHAT A BAD HANDOFF COSTS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786384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E3A869"/>
                </a:solidFill>
                <a:latin typeface="Segoe UI"/>
              </a:rPr>
              <a:t>—  </a:t>
            </a:r>
            <a:r>
              <a:rPr sz="1600" b="0" i="0">
                <a:solidFill>
                  <a:srgbClr val="F4F1EA"/>
                </a:solidFill>
                <a:latin typeface="Segoe UI"/>
              </a:rPr>
              <a:t>The customer explains everything again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786384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E3A869"/>
                </a:solidFill>
                <a:latin typeface="Segoe UI"/>
              </a:rPr>
              <a:t>—  </a:t>
            </a:r>
            <a:r>
              <a:rPr sz="1600" b="0" i="0">
                <a:solidFill>
                  <a:srgbClr val="F4F1EA"/>
                </a:solidFill>
                <a:latin typeface="Segoe UI"/>
              </a:rPr>
              <a:t>Work is repeated, decisions are reversed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8430767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E3A869"/>
                </a:solidFill>
                <a:latin typeface="Segoe UI"/>
              </a:rPr>
              <a:t>—  </a:t>
            </a:r>
            <a:r>
              <a:rPr sz="1600" b="0" i="0">
                <a:solidFill>
                  <a:srgbClr val="F4F1EA"/>
                </a:solidFill>
                <a:latin typeface="Segoe UI"/>
              </a:rPr>
              <a:t>Statutory and SLA deadlines are missed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8430767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E3A869"/>
                </a:solidFill>
                <a:latin typeface="Segoe UI"/>
              </a:rPr>
              <a:t>—  </a:t>
            </a:r>
            <a:r>
              <a:rPr sz="1600" b="0" i="0">
                <a:solidFill>
                  <a:srgbClr val="F4F1EA"/>
                </a:solidFill>
                <a:latin typeface="Segoe UI"/>
              </a:rPr>
              <a:t>No record of who owned what, and when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74523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E3A869"/>
                </a:solidFill>
                <a:latin typeface="Segoe UI"/>
              </a:rPr>
              <a:t>WHO FEELS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7863840"/>
            <a:ext cx="53949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 i="0">
                <a:solidFill>
                  <a:srgbClr val="F4F1EA"/>
                </a:solidFill>
                <a:latin typeface="Segoe UI"/>
              </a:rPr>
              <a:t>Customers  ·  front-line employees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 i="0">
                <a:solidFill>
                  <a:srgbClr val="F4F1EA"/>
                </a:solidFill>
                <a:latin typeface="Segoe UI"/>
              </a:rPr>
              <a:t>Team leads  ·  compliance &amp; audit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>
                <a:solidFill>
                  <a:srgbClr val="F4F1EA"/>
                </a:solidFill>
              </a:rPr>
              <a:t>Proposed Solution &amp;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2514600"/>
            <a:ext cx="85039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4F1EA"/>
                </a:solidFill>
                <a:latin typeface="Georgia"/>
              </a:rPr>
              <a:t>Thread</a:t>
            </a:r>
            <a:r>
              <a:rPr sz="2600" b="0" i="0">
                <a:solidFill>
                  <a:srgbClr val="F4F1EA"/>
                </a:solidFill>
                <a:latin typeface="Georgia"/>
              </a:rPr>
              <a:t> makes a handoff impossible to do badly.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" y="3246120"/>
            <a:ext cx="8503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BDB6A8"/>
                </a:solidFill>
                <a:latin typeface="Segoe UI"/>
              </a:rPr>
              <a:t>A case moves only when it is complete, and the receiver owns it only after confirming they understood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" y="41605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8F897C"/>
                </a:solidFill>
                <a:latin typeface="Segoe UI"/>
              </a:rPr>
              <a:t>THE BRIEF ASKS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41605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E3A869"/>
                </a:solidFill>
                <a:latin typeface="Segoe UI"/>
              </a:rPr>
              <a:t>THREAD DELIVERS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453128"/>
            <a:ext cx="8732520" cy="649224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14984" y="4544568"/>
            <a:ext cx="3383280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BDB6A8"/>
                </a:solidFill>
                <a:latin typeface="Segoe UI"/>
              </a:rPr>
              <a:t>Case creation &amp; ownership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544568"/>
            <a:ext cx="5029200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 i="0">
                <a:solidFill>
                  <a:srgbClr val="B9CB7E"/>
                </a:solidFill>
                <a:latin typeface="Segoe UI"/>
              </a:rPr>
              <a:t>✓  </a:t>
            </a:r>
            <a:r>
              <a:rPr sz="1550" b="0" i="0">
                <a:solidFill>
                  <a:srgbClr val="F4F1EA"/>
                </a:solidFill>
                <a:latin typeface="Segoe UI"/>
              </a:rPr>
              <a:t>One named owner at every 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5193792"/>
            <a:ext cx="3383280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BDB6A8"/>
                </a:solidFill>
                <a:latin typeface="Segoe UI"/>
              </a:rPr>
              <a:t>Context &amp; documents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5193792"/>
            <a:ext cx="5029200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 i="0">
                <a:solidFill>
                  <a:srgbClr val="B9CB7E"/>
                </a:solidFill>
                <a:latin typeface="Segoe UI"/>
              </a:rPr>
              <a:t>✓  </a:t>
            </a:r>
            <a:r>
              <a:rPr sz="1550" b="0" i="0">
                <a:solidFill>
                  <a:srgbClr val="F4F1EA"/>
                </a:solidFill>
                <a:latin typeface="Segoe UI"/>
              </a:rPr>
              <a:t>Summary, decisions, files, tasks in one workspace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751576"/>
            <a:ext cx="8732520" cy="649224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14984" y="5843016"/>
            <a:ext cx="3383280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BDB6A8"/>
                </a:solidFill>
                <a:latin typeface="Segoe UI"/>
              </a:rPr>
              <a:t>Pending actions &amp; deadlines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5843016"/>
            <a:ext cx="5029200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 i="0">
                <a:solidFill>
                  <a:srgbClr val="B9CB7E"/>
                </a:solidFill>
                <a:latin typeface="Segoe UI"/>
              </a:rPr>
              <a:t>✓  </a:t>
            </a:r>
            <a:r>
              <a:rPr sz="1550" b="0" i="0">
                <a:solidFill>
                  <a:srgbClr val="F4F1EA"/>
                </a:solidFill>
                <a:latin typeface="Segoe UI"/>
              </a:rPr>
              <a:t>Every open task has an assignee and a due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6492240"/>
            <a:ext cx="3383280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BDB6A8"/>
                </a:solidFill>
                <a:latin typeface="Segoe UI"/>
              </a:rP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6492240"/>
            <a:ext cx="5029200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 i="0">
                <a:solidFill>
                  <a:srgbClr val="B9CB7E"/>
                </a:solidFill>
                <a:latin typeface="Segoe UI"/>
              </a:rPr>
              <a:t>✓  </a:t>
            </a:r>
            <a:r>
              <a:rPr sz="1550" b="0" i="0">
                <a:solidFill>
                  <a:srgbClr val="F4F1EA"/>
                </a:solidFill>
                <a:latin typeface="Segoe UI"/>
              </a:rPr>
              <a:t>Recipient &amp; reason  →  note  →  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7050024"/>
            <a:ext cx="8732520" cy="649224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4984" y="7141464"/>
            <a:ext cx="3383280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BDB6A8"/>
                </a:solidFill>
                <a:latin typeface="Segoe UI"/>
              </a:rPr>
              <a:t>Completeness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7141464"/>
            <a:ext cx="5029200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 i="0">
                <a:solidFill>
                  <a:srgbClr val="B9CB7E"/>
                </a:solidFill>
                <a:latin typeface="Segoe UI"/>
              </a:rPr>
              <a:t>✓  </a:t>
            </a:r>
            <a:r>
              <a:rPr sz="1550" b="0" i="0">
                <a:solidFill>
                  <a:srgbClr val="F4F1EA"/>
                </a:solidFill>
                <a:latin typeface="Segoe UI"/>
              </a:rPr>
              <a:t>8-point gate, re-run on the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" y="7790688"/>
            <a:ext cx="3383280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BDB6A8"/>
                </a:solidFill>
                <a:latin typeface="Segoe UI"/>
              </a:rPr>
              <a:t>New-owner acknowledgement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7790688"/>
            <a:ext cx="5029200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 i="0">
                <a:solidFill>
                  <a:srgbClr val="B9CB7E"/>
                </a:solidFill>
                <a:latin typeface="Segoe UI"/>
              </a:rPr>
              <a:t>✓  </a:t>
            </a:r>
            <a:r>
              <a:rPr sz="1550" b="0" i="0">
                <a:solidFill>
                  <a:srgbClr val="F4F1EA"/>
                </a:solidFill>
                <a:latin typeface="Segoe UI"/>
              </a:rPr>
              <a:t>5 sections confirmed + Q&amp;A, or send 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8348472"/>
            <a:ext cx="8732520" cy="649224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4984" y="8439912"/>
            <a:ext cx="3383280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BDB6A8"/>
                </a:solidFill>
                <a:latin typeface="Segoe UI"/>
              </a:rPr>
              <a:t>Activity &amp; responsibility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8439912"/>
            <a:ext cx="5029200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 i="0">
                <a:solidFill>
                  <a:srgbClr val="B9CB7E"/>
                </a:solidFill>
                <a:latin typeface="Segoe UI"/>
              </a:rPr>
              <a:t>✓  </a:t>
            </a:r>
            <a:r>
              <a:rPr sz="1550" b="0" i="0">
                <a:solidFill>
                  <a:srgbClr val="F4F1EA"/>
                </a:solidFill>
                <a:latin typeface="Segoe UI"/>
              </a:rPr>
              <a:t>Append-only audit log, ownership 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" y="9089136"/>
            <a:ext cx="3383280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BDB6A8"/>
                </a:solidFill>
                <a:latin typeface="Segoe UI"/>
              </a:rPr>
              <a:t>Overdue notifications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9089136"/>
            <a:ext cx="5029200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 i="0">
                <a:solidFill>
                  <a:srgbClr val="B9CB7E"/>
                </a:solidFill>
                <a:latin typeface="Segoe UI"/>
              </a:rPr>
              <a:t>✓  </a:t>
            </a:r>
            <a:r>
              <a:rPr sz="1550" b="0" i="0">
                <a:solidFill>
                  <a:srgbClr val="F4F1EA"/>
                </a:solidFill>
                <a:latin typeface="Segoe UI"/>
              </a:rPr>
              <a:t>Alerts, reminders, escalation at 48 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49256" y="2642616"/>
            <a:ext cx="7287768" cy="4963450"/>
          </a:xfrm>
          <a:prstGeom prst="roundRect">
            <a:avLst>
              <a:gd name="adj" fmla="val 3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8" name="Picture 27" descr="_r_deck-gate_11.05_2.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697480"/>
            <a:ext cx="7178040" cy="485372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104120" y="7779802"/>
            <a:ext cx="7178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 i="0">
                <a:solidFill>
                  <a:srgbClr val="F4F1EA"/>
                </a:solidFill>
                <a:latin typeface="Segoe UI"/>
              </a:rPr>
              <a:t>Completeness check.  </a:t>
            </a:r>
            <a:r>
              <a:rPr sz="1450" b="0" i="0">
                <a:solidFill>
                  <a:srgbClr val="BDB6A8"/>
                </a:solidFill>
                <a:latin typeface="Segoe UI"/>
              </a:rPr>
              <a:t>Forwarding stays blocked until all 8 checks pass; every failure links straight to where it is fixed.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8739922"/>
            <a:ext cx="2505456" cy="384048"/>
          </a:xfrm>
          <a:prstGeom prst="roundRect">
            <a:avLst>
              <a:gd name="adj" fmla="val 50000"/>
            </a:avLst>
          </a:prstGeom>
          <a:solidFill>
            <a:srgbClr val="E3A869">
              <a:alpha val="14000"/>
            </a:srgbClr>
          </a:solidFill>
          <a:ln w="12700">
            <a:solidFill>
              <a:srgbClr val="E3A869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04120" y="8739922"/>
            <a:ext cx="250545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E3A869"/>
                </a:solidFill>
                <a:latin typeface="Segoe UI"/>
              </a:rPr>
              <a:t>AI handoff assistant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792456" y="8739922"/>
            <a:ext cx="2400300" cy="384048"/>
          </a:xfrm>
          <a:prstGeom prst="roundRect">
            <a:avLst>
              <a:gd name="adj" fmla="val 50000"/>
            </a:avLst>
          </a:prstGeom>
          <a:solidFill>
            <a:srgbClr val="B9CB7E">
              <a:alpha val="14000"/>
            </a:srgbClr>
          </a:solidFill>
          <a:ln w="12700">
            <a:solidFill>
              <a:srgbClr val="B9CB7E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792456" y="8739922"/>
            <a:ext cx="24003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B9CB7E"/>
                </a:solidFill>
                <a:latin typeface="Segoe UI"/>
              </a:rPr>
              <a:t>Alerts &amp; escalation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375636" y="8739922"/>
            <a:ext cx="1559052" cy="384048"/>
          </a:xfrm>
          <a:prstGeom prst="roundRect">
            <a:avLst>
              <a:gd name="adj" fmla="val 50000"/>
            </a:avLst>
          </a:prstGeom>
          <a:solidFill>
            <a:srgbClr val="B9CB7E">
              <a:alpha val="14000"/>
            </a:srgbClr>
          </a:solidFill>
          <a:ln w="12700">
            <a:solidFill>
              <a:srgbClr val="B9CB7E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5375636" y="8739922"/>
            <a:ext cx="15590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B9CB7E"/>
                </a:solidFill>
                <a:latin typeface="Segoe UI"/>
              </a:rPr>
              <a:t>PDF reports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>
                <a:solidFill>
                  <a:srgbClr val="F4F1EA"/>
                </a:solidFill>
              </a:rPr>
              <a:t>Technical approach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2606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E3A869"/>
                </a:solidFill>
                <a:latin typeface="Segoe UI"/>
              </a:rP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" y="3063240"/>
            <a:ext cx="8138160" cy="1024128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35024" y="3218688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4F1EA"/>
                </a:solidFill>
                <a:latin typeface="Segoe UI"/>
              </a:rPr>
              <a:t>Web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5024" y="361188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BDB6A8"/>
                </a:solidFill>
                <a:latin typeface="Segoe UI"/>
              </a:rPr>
              <a:t>React · TypeScript · Vite · Tailwind · three.js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15783" y="321868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E3A869"/>
                </a:solidFill>
                <a:latin typeface="Segoe UI"/>
              </a:rPr>
              <a:t>Vercel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4984" y="4800600"/>
            <a:ext cx="8138160" cy="1024128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B9CB7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35024" y="4956048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4F1EA"/>
                </a:solidFill>
                <a:latin typeface="Segoe UI"/>
              </a:rPr>
              <a:t>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534924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BDB6A8"/>
                </a:solidFill>
                <a:latin typeface="Segoe UI"/>
              </a:rPr>
              <a:t>Python · FastAPI · SQLAlchemy · Pydantic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15783" y="495604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E3A869"/>
                </a:solidFill>
                <a:latin typeface="Segoe UI"/>
              </a:rPr>
              <a:t>Render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" y="7726679"/>
            <a:ext cx="8138160" cy="1024128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35024" y="7882127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4F1EA"/>
                </a:solidFill>
                <a:latin typeface="Segoe UI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8275319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BDB6A8"/>
                </a:solidFill>
                <a:latin typeface="Segoe UI"/>
              </a:rPr>
              <a:t>PostgreSQL  (SQLite locally) · Alembic migrations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15783" y="7882127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E3A869"/>
                </a:solidFill>
                <a:latin typeface="Segoe UI"/>
              </a:rPr>
              <a:t>Neon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12264" y="4142232"/>
            <a:ext cx="0" cy="603504"/>
          </a:xfrm>
          <a:prstGeom prst="line">
            <a:avLst/>
          </a:prstGeom>
          <a:ln w="25400">
            <a:solidFill>
              <a:srgbClr val="E3A8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340864" y="427024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8F897C"/>
                </a:solidFill>
                <a:latin typeface="Segoe UI"/>
              </a:rPr>
              <a:t>HTTPS · JSON · bearer token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35024" y="5961888"/>
            <a:ext cx="7498080" cy="13258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B9CB7E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563624" y="6208776"/>
            <a:ext cx="1619141" cy="384048"/>
          </a:xfrm>
          <a:prstGeom prst="roundRect">
            <a:avLst>
              <a:gd name="adj" fmla="val 50000"/>
            </a:avLst>
          </a:prstGeom>
          <a:solidFill>
            <a:srgbClr val="B9CB7E">
              <a:alpha val="14000"/>
            </a:srgbClr>
          </a:solidFill>
          <a:ln w="12700">
            <a:solidFill>
              <a:srgbClr val="B9CB7E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63624" y="6208776"/>
            <a:ext cx="161914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B9CB7E"/>
                </a:solidFill>
                <a:latin typeface="Segoe UI"/>
              </a:rPr>
              <a:t>Rules engine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47357" y="6208776"/>
            <a:ext cx="1314939" cy="384048"/>
          </a:xfrm>
          <a:prstGeom prst="roundRect">
            <a:avLst>
              <a:gd name="adj" fmla="val 50000"/>
            </a:avLst>
          </a:prstGeom>
          <a:solidFill>
            <a:srgbClr val="B9CB7E">
              <a:alpha val="14000"/>
            </a:srgbClr>
          </a:solidFill>
          <a:ln w="12700">
            <a:solidFill>
              <a:srgbClr val="B9CB7E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47357" y="6208776"/>
            <a:ext cx="131493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B9CB7E"/>
                </a:solidFill>
                <a:latin typeface="Segoe UI"/>
              </a:rPr>
              <a:t>Audit 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26889" y="6208776"/>
            <a:ext cx="2024742" cy="384048"/>
          </a:xfrm>
          <a:prstGeom prst="roundRect">
            <a:avLst>
              <a:gd name="adj" fmla="val 50000"/>
            </a:avLst>
          </a:prstGeom>
          <a:solidFill>
            <a:srgbClr val="B9CB7E">
              <a:alpha val="14000"/>
            </a:srgbClr>
          </a:solidFill>
          <a:ln w="12700">
            <a:solidFill>
              <a:srgbClr val="B9CB7E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26889" y="6208776"/>
            <a:ext cx="202474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B9CB7E"/>
                </a:solidFill>
                <a:latin typeface="Segoe UI"/>
              </a:rPr>
              <a:t>Deadline watcher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63624" y="6757416"/>
            <a:ext cx="3647149" cy="384048"/>
          </a:xfrm>
          <a:prstGeom prst="roundRect">
            <a:avLst>
              <a:gd name="adj" fmla="val 50000"/>
            </a:avLst>
          </a:prstGeom>
          <a:solidFill>
            <a:srgbClr val="B9CB7E">
              <a:alpha val="14000"/>
            </a:srgbClr>
          </a:solidFill>
          <a:ln w="12700">
            <a:solidFill>
              <a:srgbClr val="B9CB7E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63624" y="6757416"/>
            <a:ext cx="364714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B9CB7E"/>
                </a:solidFill>
                <a:latin typeface="Segoe UI"/>
              </a:rPr>
              <a:t>Reports · reportlab + matplotlib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75365" y="6757416"/>
            <a:ext cx="1720541" cy="384048"/>
          </a:xfrm>
          <a:prstGeom prst="roundRect">
            <a:avLst>
              <a:gd name="adj" fmla="val 50000"/>
            </a:avLst>
          </a:prstGeom>
          <a:solidFill>
            <a:srgbClr val="E3A869">
              <a:alpha val="14000"/>
            </a:srgbClr>
          </a:solidFill>
          <a:ln w="12700">
            <a:solidFill>
              <a:srgbClr val="E3A869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75365" y="6757416"/>
            <a:ext cx="172054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E3A869"/>
                </a:solidFill>
                <a:latin typeface="Segoe UI"/>
              </a:rPr>
              <a:t>AI · Groq LLM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12264" y="7333488"/>
            <a:ext cx="0" cy="338327"/>
          </a:xfrm>
          <a:prstGeom prst="line">
            <a:avLst/>
          </a:prstGeom>
          <a:ln w="25400">
            <a:solidFill>
              <a:srgbClr val="E3A8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829800" y="2606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E3A869"/>
                </a:solidFill>
                <a:latin typeface="Segoe UI"/>
              </a:rPr>
              <a:t>WHAT'S NEW HERE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29800" y="3063240"/>
            <a:ext cx="6720840" cy="146304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04120" y="3246120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4F1EA"/>
                </a:solidFill>
                <a:latin typeface="Segoe UI"/>
              </a:rPr>
              <a:t>Rules live on the server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3666744"/>
            <a:ext cx="6217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BDB6A8"/>
                </a:solidFill>
                <a:latin typeface="Segoe UI"/>
              </a:rPr>
              <a:t>The browser mirrors the gate for instant feedback, but cannot skip it. Stage moves, acceptance and visibility are enforced by the API.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29800" y="4690872"/>
            <a:ext cx="6720840" cy="146304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04120" y="4873752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4F1EA"/>
                </a:solidFill>
                <a:latin typeface="Segoe UI"/>
              </a:rPr>
              <a:t>Accountable acceptance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5294376"/>
            <a:ext cx="6217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BDB6A8"/>
                </a:solidFill>
                <a:latin typeface="Segoe UI"/>
              </a:rPr>
              <a:t>Ownership transfers only when all 5 sections are acknowledged and every question is answered.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29800" y="6318504"/>
            <a:ext cx="6720840" cy="146304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04120" y="6501384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4F1EA"/>
                </a:solidFill>
                <a:latin typeface="Segoe UI"/>
              </a:rPr>
              <a:t>AI with guardrails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20" y="6922008"/>
            <a:ext cx="6217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BDB6A8"/>
                </a:solidFill>
                <a:latin typeface="Segoe UI"/>
              </a:rPr>
              <a:t>Draft with AI writes the handover note; Brief me prepares the receiver. Replies are schema-checked, with a template fallback.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29800" y="7946136"/>
            <a:ext cx="6720840" cy="146304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104120" y="8129015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4F1EA"/>
                </a:solidFill>
                <a:latin typeface="Segoe UI"/>
              </a:rPr>
              <a:t>Audit-grade by default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20" y="8549640"/>
            <a:ext cx="6217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BDB6A8"/>
                </a:solidFill>
                <a:latin typeface="Segoe UI"/>
              </a:rPr>
              <a:t>Append-only log, per-case visibility, lockout after 5 failed sign-ins, refused access recorded.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" y="9418320"/>
            <a:ext cx="1554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F4F1EA"/>
                </a:solidFill>
                <a:latin typeface="Segoe UI"/>
              </a:rPr>
              <a:t>35 automated tests</a:t>
            </a:r>
            <a:r>
              <a:rPr sz="1350" b="0" i="0">
                <a:solidFill>
                  <a:srgbClr val="BDB6A8"/>
                </a:solidFill>
                <a:latin typeface="Segoe UI"/>
              </a:rPr>
              <a:t>  ·  full handoff flow, every error code, migrations on SQLite and PostgreSQL  ·  </a:t>
            </a:r>
            <a:r>
              <a:rPr sz="1350" b="1" i="0">
                <a:solidFill>
                  <a:srgbClr val="F4F1EA"/>
                </a:solidFill>
                <a:latin typeface="Segoe UI"/>
              </a:rPr>
              <a:t>deployed and live</a:t>
            </a:r>
            <a:r>
              <a:rPr sz="1350" b="0" i="0">
                <a:solidFill>
                  <a:srgbClr val="BDB6A8"/>
                </a:solidFill>
                <a:latin typeface="Segoe UI"/>
              </a:rPr>
              <a:t>  ·  timezone-aware reports (IST)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567" rIns="0" bIns="0" rtlCol="0">
            <a:spAutoFit/>
          </a:bodyPr>
          <a:lstStyle/>
          <a:p>
            <a:r>
              <a:rPr>
                <a:solidFill>
                  <a:srgbClr val="F4F1EA"/>
                </a:solidFill>
              </a:rPr>
              <a:t>Impact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2606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E3A869"/>
                </a:solidFill>
                <a:latin typeface="Segoe UI"/>
              </a:rPr>
              <a:t>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" y="3063240"/>
            <a:ext cx="8229600" cy="1298448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14984" y="3063240"/>
            <a:ext cx="82296" cy="1298448"/>
          </a:xfrm>
          <a:prstGeom prst="rect">
            <a:avLst/>
          </a:prstGeom>
          <a:solidFill>
            <a:srgbClr val="B9CB7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246120"/>
            <a:ext cx="7680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4F1EA"/>
                </a:solidFill>
                <a:latin typeface="Segoe UI"/>
              </a:rPr>
              <a:t>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48456"/>
            <a:ext cx="7680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BDB6A8"/>
                </a:solidFill>
                <a:latin typeface="Segoe UI"/>
              </a:rPr>
              <a:t>Never repeat their story; every promise made to them travels with the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4984" y="4526280"/>
            <a:ext cx="8229600" cy="1298448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14984" y="4526280"/>
            <a:ext cx="82296" cy="1298448"/>
          </a:xfrm>
          <a:prstGeom prst="rect">
            <a:avLst/>
          </a:prstGeom>
          <a:solidFill>
            <a:srgbClr val="B9CB7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4709160"/>
            <a:ext cx="7680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4F1EA"/>
                </a:solidFill>
                <a:latin typeface="Segoe UI"/>
              </a:rPr>
              <a:t>Employees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111496"/>
            <a:ext cx="7680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BDB6A8"/>
                </a:solidFill>
                <a:latin typeface="Segoe UI"/>
              </a:rPr>
              <a:t>Pick up a case and act on it, without chasing the previous owner.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" y="5989320"/>
            <a:ext cx="8229600" cy="1298448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14984" y="5989320"/>
            <a:ext cx="82296" cy="1298448"/>
          </a:xfrm>
          <a:prstGeom prst="rect">
            <a:avLst/>
          </a:prstGeom>
          <a:solidFill>
            <a:srgbClr val="B9CB7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6172200"/>
            <a:ext cx="7680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4F1EA"/>
                </a:solidFill>
                <a:latin typeface="Segoe UI"/>
              </a:rPr>
              <a:t>Team leads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574536"/>
            <a:ext cx="7680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BDB6A8"/>
                </a:solidFill>
                <a:latin typeface="Segoe UI"/>
              </a:rPr>
              <a:t>Overdue work surfaces itself, escalations are automatic, and monthly/annual reports are one click.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4984" y="7452360"/>
            <a:ext cx="8229600" cy="1298448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14984" y="7452360"/>
            <a:ext cx="82296" cy="1298448"/>
          </a:xfrm>
          <a:prstGeom prst="rect">
            <a:avLst/>
          </a:prstGeom>
          <a:solidFill>
            <a:srgbClr val="B9CB7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7635240"/>
            <a:ext cx="7680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4F1EA"/>
                </a:solidFill>
                <a:latin typeface="Segoe UI"/>
              </a:rPr>
              <a:t>Compliance &amp;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8037576"/>
            <a:ext cx="7680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BDB6A8"/>
                </a:solidFill>
                <a:latin typeface="Segoe UI"/>
              </a:rPr>
              <a:t>A complete, tamper-evident trail of who owned what, what they knew, and when.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2606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E3A869"/>
                </a:solidFill>
                <a:latin typeface="Segoe UI"/>
              </a:rPr>
              <a:t>FUTURE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3063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E3A869"/>
                </a:solidFill>
                <a:latin typeface="Segoe U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306324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F4F1EA"/>
                </a:solidFill>
                <a:latin typeface="Segoe UI"/>
              </a:rPr>
              <a:t>Inbound channels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3447288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BDB6A8"/>
                </a:solidFill>
                <a:latin typeface="Segoe UI"/>
              </a:rPr>
              <a:t>Email, WhatsApp and web forms open cases automatically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405079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E3A869"/>
                </a:solidFill>
                <a:latin typeface="Segoe U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4050791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F4F1EA"/>
                </a:solidFill>
                <a:latin typeface="Segoe UI"/>
              </a:rPr>
              <a:t>Single sign-on &amp; MFA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4434840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BDB6A8"/>
                </a:solidFill>
                <a:latin typeface="Segoe UI"/>
              </a:rPr>
              <a:t>SAML / OIDC with the organisation's identity provider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503834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E3A869"/>
                </a:solidFill>
                <a:latin typeface="Segoe U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5038344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F4F1EA"/>
                </a:solidFill>
                <a:latin typeface="Segoe UI"/>
              </a:rPr>
              <a:t>Breach prediction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5422392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BDB6A8"/>
                </a:solidFill>
                <a:latin typeface="Segoe UI"/>
              </a:rPr>
              <a:t>Flag cases likely to miss their deadline before they 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60258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E3A869"/>
                </a:solidFill>
                <a:latin typeface="Segoe U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6025896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F4F1EA"/>
                </a:solidFill>
                <a:latin typeface="Segoe UI"/>
              </a:rPr>
              <a:t>Integrations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409944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BDB6A8"/>
                </a:solidFill>
                <a:latin typeface="Segoe UI"/>
              </a:rPr>
              <a:t>CRM and helpdesk sync (Zendesk, Salesforce), Slack / Teams alerts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70134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E3A869"/>
                </a:solidFill>
                <a:latin typeface="Segoe U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7013448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F4F1EA"/>
                </a:solidFill>
                <a:latin typeface="Segoe UI"/>
              </a:rPr>
              <a:t>Mobile + multilingual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7397496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BDB6A8"/>
                </a:solidFill>
                <a:latin typeface="Segoe UI"/>
              </a:rPr>
              <a:t>Push notifications; AI briefings in regional languages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8183879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E3A869"/>
                </a:solidFill>
                <a:latin typeface="Segoe UI"/>
              </a:rPr>
              <a:t>WHO IT'S FOR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29800" y="8577072"/>
            <a:ext cx="1671719" cy="384048"/>
          </a:xfrm>
          <a:prstGeom prst="roundRect">
            <a:avLst>
              <a:gd name="adj" fmla="val 50000"/>
            </a:avLst>
          </a:prstGeom>
          <a:solidFill>
            <a:srgbClr val="E3A869">
              <a:alpha val="14000"/>
            </a:srgbClr>
          </a:solidFill>
          <a:ln w="12700">
            <a:solidFill>
              <a:srgbClr val="E3A869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29800" y="8577072"/>
            <a:ext cx="167171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E3A869"/>
                </a:solidFill>
                <a:latin typeface="Segoe UI"/>
              </a:rPr>
              <a:t>Banks &amp; NBFCs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38679" y="8577072"/>
            <a:ext cx="1085850" cy="384048"/>
          </a:xfrm>
          <a:prstGeom prst="roundRect">
            <a:avLst>
              <a:gd name="adj" fmla="val 50000"/>
            </a:avLst>
          </a:prstGeom>
          <a:solidFill>
            <a:srgbClr val="E3A869">
              <a:alpha val="14000"/>
            </a:srgbClr>
          </a:solidFill>
          <a:ln w="12700">
            <a:solidFill>
              <a:srgbClr val="E3A869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638679" y="8577072"/>
            <a:ext cx="108585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E3A869"/>
                </a:solidFill>
                <a:latin typeface="Segoe UI"/>
              </a:rPr>
              <a:t>Telecom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861689" y="8577072"/>
            <a:ext cx="1281139" cy="384048"/>
          </a:xfrm>
          <a:prstGeom prst="roundRect">
            <a:avLst>
              <a:gd name="adj" fmla="val 50000"/>
            </a:avLst>
          </a:prstGeom>
          <a:solidFill>
            <a:srgbClr val="E3A869">
              <a:alpha val="14000"/>
            </a:srgbClr>
          </a:solidFill>
          <a:ln w="12700">
            <a:solidFill>
              <a:srgbClr val="E3A869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2861689" y="8577072"/>
            <a:ext cx="128113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E3A869"/>
                </a:solidFill>
                <a:latin typeface="Segoe UI"/>
              </a:rPr>
              <a:t>Insurance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279988" y="8577072"/>
            <a:ext cx="1378784" cy="384048"/>
          </a:xfrm>
          <a:prstGeom prst="roundRect">
            <a:avLst>
              <a:gd name="adj" fmla="val 50000"/>
            </a:avLst>
          </a:prstGeom>
          <a:solidFill>
            <a:srgbClr val="E3A869">
              <a:alpha val="14000"/>
            </a:srgbClr>
          </a:solidFill>
          <a:ln w="12700">
            <a:solidFill>
              <a:srgbClr val="E3A869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4279988" y="8577072"/>
            <a:ext cx="137878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E3A869"/>
                </a:solidFill>
                <a:latin typeface="Segoe UI"/>
              </a:rPr>
              <a:t>E-commerce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29800" y="9089136"/>
            <a:ext cx="1867008" cy="384048"/>
          </a:xfrm>
          <a:prstGeom prst="roundRect">
            <a:avLst>
              <a:gd name="adj" fmla="val 50000"/>
            </a:avLst>
          </a:prstGeom>
          <a:solidFill>
            <a:srgbClr val="E3A869">
              <a:alpha val="14000"/>
            </a:srgbClr>
          </a:solidFill>
          <a:ln w="12700">
            <a:solidFill>
              <a:srgbClr val="E3A869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829800" y="9089136"/>
            <a:ext cx="186700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E3A869"/>
                </a:solidFill>
                <a:latin typeface="Segoe UI"/>
              </a:rPr>
              <a:t>Grievance cells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r>
              <a:rPr>
                <a:solidFill>
                  <a:srgbClr val="F4F1EA"/>
                </a:solidFill>
              </a:rPr>
              <a:t>Supporting Information (workflow, architecture, wireframes, research, references)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2788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E3A869"/>
                </a:solidFill>
                <a:latin typeface="Segoe UI"/>
              </a:rPr>
              <a:t>CASE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" y="3200400"/>
            <a:ext cx="2743200" cy="96012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4984" y="3328416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4F1EA"/>
                </a:solidFill>
                <a:latin typeface="Segoe UI"/>
              </a:rPr>
              <a:t>Received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" y="372160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BDB6A8"/>
                </a:solidFill>
                <a:latin typeface="Segoe UI"/>
              </a:rPr>
              <a:t>logged &amp; owned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22192" y="3675887"/>
            <a:ext cx="320040" cy="0"/>
          </a:xfrm>
          <a:prstGeom prst="line">
            <a:avLst/>
          </a:prstGeom>
          <a:ln w="22225">
            <a:solidFill>
              <a:srgbClr val="E3A8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06240" y="3200400"/>
            <a:ext cx="2743200" cy="96012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0" y="3328416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4F1EA"/>
                </a:solidFill>
                <a:latin typeface="Segoe UI"/>
              </a:rPr>
              <a:t>Investigation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72160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BDB6A8"/>
                </a:solidFill>
                <a:latin typeface="Segoe UI"/>
              </a:rPr>
              <a:t>facts, documents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13448" y="3675887"/>
            <a:ext cx="320040" cy="0"/>
          </a:xfrm>
          <a:prstGeom prst="line">
            <a:avLst/>
          </a:prstGeom>
          <a:ln w="22225">
            <a:solidFill>
              <a:srgbClr val="E3A8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97496" y="3200400"/>
            <a:ext cx="2743200" cy="96012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97496" y="3328416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4F1EA"/>
                </a:solidFill>
                <a:latin typeface="Segoe UI"/>
              </a:rPr>
              <a:t>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7496" y="372160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BDB6A8"/>
                </a:solidFill>
                <a:latin typeface="Segoe UI"/>
              </a:rPr>
              <a:t>tasks with deadlines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204704" y="3675887"/>
            <a:ext cx="320040" cy="0"/>
          </a:xfrm>
          <a:prstGeom prst="line">
            <a:avLst/>
          </a:prstGeom>
          <a:ln w="22225">
            <a:solidFill>
              <a:srgbClr val="E3A8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588752" y="3200400"/>
            <a:ext cx="2743200" cy="960120"/>
          </a:xfrm>
          <a:prstGeom prst="roundRect">
            <a:avLst>
              <a:gd name="adj" fmla="val 6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E3A869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88752" y="3328416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E3A869"/>
                </a:solidFill>
                <a:latin typeface="Segoe UI"/>
              </a:rPr>
              <a:t>Handoff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88752" y="372160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BDB6A8"/>
                </a:solidFill>
                <a:latin typeface="Segoe UI"/>
              </a:rPr>
              <a:t>8-point check · 5 acks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395960" y="3675887"/>
            <a:ext cx="320040" cy="0"/>
          </a:xfrm>
          <a:prstGeom prst="line">
            <a:avLst/>
          </a:prstGeom>
          <a:ln w="22225">
            <a:solidFill>
              <a:srgbClr val="E3A8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3780008" y="3200400"/>
            <a:ext cx="2743200" cy="96012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80008" y="3328416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4F1EA"/>
                </a:solidFill>
                <a:latin typeface="Segoe UI"/>
              </a:rPr>
              <a:t>Resolved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80008" y="372160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BDB6A8"/>
                </a:solidFill>
                <a:latin typeface="Segoe UI"/>
              </a:rPr>
              <a:t>closed, reported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5" y="4700016"/>
            <a:ext cx="6125305" cy="3218688"/>
          </a:xfrm>
          <a:prstGeom prst="roundRect">
            <a:avLst>
              <a:gd name="adj" fmla="val 3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4" name="Picture 23" descr="_r_deck-meera-dashboard_1.15_5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754880"/>
            <a:ext cx="6015577" cy="31089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51560" y="8046719"/>
            <a:ext cx="601557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BDB6A8"/>
                </a:solidFill>
                <a:latin typeface="Segoe UI"/>
              </a:rPr>
              <a:t>Dashboard: what needs attention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15193" y="4700016"/>
            <a:ext cx="4946865" cy="3218688"/>
          </a:xfrm>
          <a:prstGeom prst="roundRect">
            <a:avLst>
              <a:gd name="adj" fmla="val 3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7" name="Picture 26" descr="_r_deck-ravi-handoffs_h1_8.278715919085311_5.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057" y="4754880"/>
            <a:ext cx="4837137" cy="31089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570057" y="8046719"/>
            <a:ext cx="483713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BDB6A8"/>
                </a:solidFill>
                <a:latin typeface="Segoe UI"/>
              </a:rPr>
              <a:t>Handoff review: acknowledge, ask, accept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855251" y="4700016"/>
            <a:ext cx="3931158" cy="3218688"/>
          </a:xfrm>
          <a:prstGeom prst="roundRect">
            <a:avLst>
              <a:gd name="adj" fmla="val 3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0" name="Picture 29" descr="_r_report-p2_14.118673486270602_5.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0115" y="4754880"/>
            <a:ext cx="3821430" cy="31089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910115" y="8046719"/>
            <a:ext cx="437007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BDB6A8"/>
                </a:solidFill>
                <a:latin typeface="Segoe UI"/>
              </a:rPr>
              <a:t>Generated PDF report (Python)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" y="9189720"/>
            <a:ext cx="1554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E3A869"/>
                </a:solidFill>
                <a:latin typeface="Segoe UI"/>
              </a:rPr>
              <a:t>Live  </a:t>
            </a:r>
            <a:r>
              <a:rPr sz="1400" b="0" i="0">
                <a:solidFill>
                  <a:srgbClr val="F4F1EA"/>
                </a:solidFill>
                <a:latin typeface="Segoe UI"/>
              </a:rPr>
              <a:t>v4-catalyst.vercel.app</a:t>
            </a:r>
            <a:r>
              <a:rPr sz="1400" b="1" i="0">
                <a:solidFill>
                  <a:srgbClr val="E3A869"/>
                </a:solidFill>
                <a:latin typeface="Segoe UI"/>
              </a:rPr>
              <a:t>      Code  </a:t>
            </a:r>
            <a:r>
              <a:rPr sz="1400" b="0" i="0">
                <a:solidFill>
                  <a:srgbClr val="F4F1EA"/>
                </a:solidFill>
                <a:latin typeface="Segoe UI"/>
              </a:rPr>
              <a:t>github.com/ishikadubey1105/V4CATALYST</a:t>
            </a:r>
            <a:r>
              <a:rPr sz="1400" b="1" i="0">
                <a:solidFill>
                  <a:srgbClr val="E3A869"/>
                </a:solidFill>
                <a:latin typeface="Segoe UI"/>
              </a:rPr>
              <a:t>      Demo  </a:t>
            </a:r>
            <a:r>
              <a:rPr sz="1400" b="0" i="0">
                <a:solidFill>
                  <a:srgbClr val="F4F1EA"/>
                </a:solidFill>
                <a:latin typeface="Segoe UI"/>
              </a:rPr>
              <a:t>one-click sign-in as any sample employee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788</Words>
  <Application>Microsoft Office PowerPoint</Application>
  <PresentationFormat>Custom</PresentationFormat>
  <Paragraphs>130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Georgia</vt:lpstr>
      <vt:lpstr>Segoe UI</vt:lpstr>
      <vt:lpstr>Times New Roman</vt:lpstr>
      <vt:lpstr>Verdana</vt:lpstr>
      <vt:lpstr>Office Theme</vt:lpstr>
      <vt:lpstr>Team Details</vt:lpstr>
      <vt:lpstr>Problem Analysis</vt:lpstr>
      <vt:lpstr>Proposed Solution &amp; Key Features</vt:lpstr>
      <vt:lpstr>Technical approach &amp; Innovation</vt:lpstr>
      <vt:lpstr>Impact &amp; Future Scope</vt:lpstr>
      <vt:lpstr>Supporting Information (workflow, architecture, wireframes, research, references)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Codeastra 2.0 PPT</dc:title>
  <dc:creator>Faizan Shaikh</dc:creator>
  <cp:keywords>DAHU5g2efoE,BAFWBtRs-uU</cp:keywords>
  <cp:lastModifiedBy>Ishika Dubey</cp:lastModifiedBy>
  <cp:revision>1</cp:revision>
  <dcterms:created xsi:type="dcterms:W3CDTF">2026-10-12T18:57:07Z</dcterms:created>
  <dcterms:modified xsi:type="dcterms:W3CDTF">2026-10-12T20:04:58Z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2026-10-12T00:00:00Z</vt:filetime>
  </property>
  <property fmtid="{D5CDD505-2E9C-101B-9397-08002B2CF9AE}" pid="4" name="Creator">
    <vt:lpwstr>Canva</vt:lpwstr>
  </property>
  <property fmtid="{D5CDD505-2E9C-101B-9397-08002B2CF9AE}" pid="5" name="LastSaved">
    <vt:filetime>2026-10-12T00:00:00Z</vt:filetime>
  </property>
  <property fmtid="{D5CDD505-2E9C-101B-9397-08002B2CF9AE}" pid="6" name="Producer">
    <vt:lpwstr>Canva</vt:lpwstr>
  </property>
</Properties>
</file>